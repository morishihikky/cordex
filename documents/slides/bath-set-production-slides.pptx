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booth.pm/ja/items/6106863" TargetMode="External"/><Relationship Id="rId4" Type="http://schemas.openxmlformats.org/officeDocument/2006/relationships/image" Target="../media/image4.jpg"/><Relationship Id="rId5" Type="http://schemas.openxmlformats.org/officeDocument/2006/relationships/hyperlink" Target="https://booth.pm/ja/items/5058077" TargetMode="External"/><Relationship Id="rId6" Type="http://schemas.openxmlformats.org/officeDocument/2006/relationships/image" Target="../media/image5.jpg"/><Relationship Id="rId7" Type="http://schemas.openxmlformats.org/officeDocument/2006/relationships/hyperlink" Target="https://booth.pm/ja/items/4667400" TargetMode="External"/><Relationship Id="rId8" Type="http://schemas.openxmlformats.org/officeDocument/2006/relationships/image" Target="../media/image6.jpg"/><Relationship Id="rId9" Type="http://schemas.openxmlformats.org/officeDocument/2006/relationships/hyperlink" Target="https://booth.pm/ja/items/3681787" TargetMode="External"/><Relationship Id="rId10" Type="http://schemas.openxmlformats.org/officeDocument/2006/relationships/image" Target="../media/image7.jpg"/><Relationship Id="rId11" Type="http://schemas.openxmlformats.org/officeDocument/2006/relationships/hyperlink" Target="https://booth.pm/ja/items/4169438" TargetMode="External"/><Relationship Id="rId12" Type="http://schemas.openxmlformats.org/officeDocument/2006/relationships/image" Target="../media/image8.jpg"/><Relationship Id="rId13" Type="http://schemas.openxmlformats.org/officeDocument/2006/relationships/hyperlink" Target="https://booth.pm/ja/items/5129599" TargetMode="External"/><Relationship Id="rId14" Type="http://schemas.openxmlformats.org/officeDocument/2006/relationships/image" Target="../media/image9.jpg"/><Relationship Id="rId15" Type="http://schemas.openxmlformats.org/officeDocument/2006/relationships/hyperlink" Target="https://booth.pm/ja/items/5260363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VIRTUAL MARKET / PRODUCTION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3Dお風呂セット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企業ブース｜特典配布モデル 制作発注資料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01168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73E3C"/>
                </a:solidFill>
                <a:latin typeface="Noto Sans CJK JP"/>
              </a:defRPr>
            </a:pPr>
            <a:r>
              <a:t>お風呂の楽しさを、</a:t>
            </a:r>
          </a:p>
          <a:p>
            <a:pPr>
              <a:spcAft>
                <a:spcPts val="800"/>
              </a:spcAft>
              <a:defRPr sz="3100" b="1">
                <a:solidFill>
                  <a:srgbClr val="173E3C"/>
                </a:solidFill>
                <a:latin typeface="Noto Sans CJK JP"/>
              </a:defRPr>
            </a:pPr>
            <a:r>
              <a:t>アバターで持ち帰る。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3803904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61716B"/>
                </a:solidFill>
                <a:latin typeface="Noto Sans CJK JP"/>
              </a:defRPr>
            </a:pPr>
            <a:r>
              <a:t>制作するものは、</a:t>
            </a:r>
          </a:p>
          <a:p>
            <a:pPr>
              <a:spcAft>
                <a:spcPts val="800"/>
              </a:spcAft>
              <a:defRPr sz="2100" b="0">
                <a:solidFill>
                  <a:srgbClr val="61716B"/>
                </a:solidFill>
                <a:latin typeface="Noto Sans CJK JP"/>
              </a:defRPr>
            </a:pPr>
            <a:r>
              <a:t>頭部小物3点と着用バスタオル。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" y="5056632"/>
            <a:ext cx="1463040" cy="2926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5" y="5097780"/>
            <a:ext cx="129844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制作対象 4点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58568" y="5056632"/>
            <a:ext cx="2011680" cy="2926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0008" y="5097780"/>
            <a:ext cx="184708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女性4種・男性3種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" y="5559552"/>
            <a:ext cx="1828800" cy="292608"/>
          </a:xfrm>
          <a:prstGeom prst="roundRect">
            <a:avLst>
              <a:gd name="adj" fmla="val 10000"/>
            </a:avLst>
          </a:prstGeom>
          <a:solidFill>
            <a:srgbClr val="F9D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5" y="5600700"/>
            <a:ext cx="166420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バスタブは対象外</a:t>
            </a:r>
          </a:p>
        </p:txBody>
      </p:sp>
      <p:pic>
        <p:nvPicPr>
          <p:cNvPr id="17" name="Picture 16" descr="exec-c7a9a72c-5423-4325-bae1-c7d3b8f836c6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6601968" y="1627632"/>
            <a:ext cx="2263140" cy="2263140"/>
          </a:xfrm>
          <a:prstGeom prst="rect">
            <a:avLst/>
          </a:prstGeom>
        </p:spPr>
      </p:pic>
      <p:pic>
        <p:nvPicPr>
          <p:cNvPr id="18" name="Picture 17" descr="exec-c7a9a72c-5423-4325-bae1-c7d3b8f836c6.png"/>
          <p:cNvPicPr>
            <a:picLocks noChangeAspect="1"/>
          </p:cNvPicPr>
          <p:nvPr/>
        </p:nvPicPr>
        <p:blipFill>
          <a:blip r:embed="rId2"/>
          <a:srcRect l="50000" b="50000"/>
          <a:stretch>
            <a:fillRect/>
          </a:stretch>
        </p:blipFill>
        <p:spPr>
          <a:xfrm>
            <a:off x="8865108" y="1627632"/>
            <a:ext cx="2263140" cy="2263140"/>
          </a:xfrm>
          <a:prstGeom prst="rect">
            <a:avLst/>
          </a:prstGeom>
        </p:spPr>
      </p:pic>
      <p:pic>
        <p:nvPicPr>
          <p:cNvPr id="19" name="Picture 18" descr="exec-871844d4-edbb-4a08-9d69-90132a8b8d7d.png"/>
          <p:cNvPicPr>
            <a:picLocks noChangeAspect="1"/>
          </p:cNvPicPr>
          <p:nvPr/>
        </p:nvPicPr>
        <p:blipFill>
          <a:blip r:embed="rId3"/>
          <a:srcRect r="50000" t="50000"/>
          <a:stretch>
            <a:fillRect/>
          </a:stretch>
        </p:blipFill>
        <p:spPr>
          <a:xfrm>
            <a:off x="6601968" y="3890772"/>
            <a:ext cx="2263140" cy="2263140"/>
          </a:xfrm>
          <a:prstGeom prst="rect">
            <a:avLst/>
          </a:prstGeom>
        </p:spPr>
      </p:pic>
      <p:pic>
        <p:nvPicPr>
          <p:cNvPr id="20" name="Picture 19" descr="exec-871844d4-edbb-4a08-9d69-90132a8b8d7d.png"/>
          <p:cNvPicPr>
            <a:picLocks noChangeAspect="1"/>
          </p:cNvPicPr>
          <p:nvPr/>
        </p:nvPicPr>
        <p:blipFill>
          <a:blip r:embed="rId3"/>
          <a:srcRect l="50000" t="50000"/>
          <a:stretch>
            <a:fillRect/>
          </a:stretch>
        </p:blipFill>
        <p:spPr>
          <a:xfrm>
            <a:off x="8865108" y="3890772"/>
            <a:ext cx="2263140" cy="22631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01968" y="618134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01 /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制作するもの｜4アイテム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白を基調に、お風呂らしい清潔感とかわいらしさを揃えます。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c7a9a72c-5423-4325-bae1-c7d3b8f836c6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667512" y="2130552"/>
            <a:ext cx="2350008" cy="23500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6656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アヒルの乗ったタオル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頭の上に載せる小物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8416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ec-c7a9a72c-5423-4325-bae1-c7d3b8f836c6.png"/>
          <p:cNvPicPr>
            <a:picLocks noChangeAspect="1"/>
          </p:cNvPicPr>
          <p:nvPr/>
        </p:nvPicPr>
        <p:blipFill>
          <a:blip r:embed="rId2"/>
          <a:srcRect l="50000" b="50000"/>
          <a:stretch>
            <a:fillRect/>
          </a:stretch>
        </p:blipFill>
        <p:spPr>
          <a:xfrm>
            <a:off x="3483864" y="2130552"/>
            <a:ext cx="2350008" cy="23500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93008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もこもこ泡ターバン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頭に載せる、白いもこもこの泡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xec-871844d4-edbb-4a08-9d69-90132a8b8d7d.png"/>
          <p:cNvPicPr>
            <a:picLocks noChangeAspect="1"/>
          </p:cNvPicPr>
          <p:nvPr/>
        </p:nvPicPr>
        <p:blipFill>
          <a:blip r:embed="rId3"/>
          <a:srcRect r="50000" t="50000"/>
          <a:stretch>
            <a:fillRect/>
          </a:stretch>
        </p:blipFill>
        <p:spPr>
          <a:xfrm>
            <a:off x="6300216" y="2130552"/>
            <a:ext cx="2350008" cy="23500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09360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キュウリの目パック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左右の目に載せる小物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xec-871844d4-edbb-4a08-9d69-90132a8b8d7d.png"/>
          <p:cNvPicPr>
            <a:picLocks noChangeAspect="1"/>
          </p:cNvPicPr>
          <p:nvPr/>
        </p:nvPicPr>
        <p:blipFill>
          <a:blip r:embed="rId3"/>
          <a:srcRect l="50000" t="50000"/>
          <a:stretch>
            <a:fillRect/>
          </a:stretch>
        </p:blipFill>
        <p:spPr>
          <a:xfrm>
            <a:off x="9116568" y="2130552"/>
            <a:ext cx="2350008" cy="23500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25712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バスタオルモデル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2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身体に巻く着用品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025896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4685E"/>
                </a:solidFill>
                <a:latin typeface="Noto Sans CJK JP"/>
              </a:defRPr>
            </a:pPr>
            <a:r>
              <a:t>バスタブは別途制作するため、今回の依頼には含みません。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7152" y="60533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02 / HEAD ACCESSORIES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頭部小物｜薄いタオルと、もこもこの泡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タオルは薄く、ターバンは布ではなく泡として制作します。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74519"/>
            <a:ext cx="5358384" cy="4297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c7a9a72c-5423-4325-bae1-c7d3b8f836c6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768096" y="2093976"/>
            <a:ext cx="2697480" cy="2697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" y="49834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E3C"/>
                </a:solidFill>
                <a:latin typeface="Noto Sans CJK JP"/>
              </a:defRPr>
            </a:pPr>
            <a:r>
              <a:t>アヒルの乗ったタオル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2578608"/>
            <a:ext cx="2002536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薄い白いタオルの上に、</a:t>
            </a:r>
          </a:p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黄色いアヒルが乗ったデザイン。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6875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874519"/>
            <a:ext cx="5358384" cy="4297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ec-c7a9a72c-5423-4325-bae1-c7d3b8f836c6.png"/>
          <p:cNvPicPr>
            <a:picLocks noChangeAspect="1"/>
          </p:cNvPicPr>
          <p:nvPr/>
        </p:nvPicPr>
        <p:blipFill>
          <a:blip r:embed="rId2"/>
          <a:srcRect l="50000" b="50000"/>
          <a:stretch>
            <a:fillRect/>
          </a:stretch>
        </p:blipFill>
        <p:spPr>
          <a:xfrm>
            <a:off x="6464807" y="2093976"/>
            <a:ext cx="2697480" cy="2697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83096" y="49834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E3C"/>
                </a:solidFill>
                <a:latin typeface="Noto Sans CJK JP"/>
              </a:defRPr>
            </a:pPr>
            <a:r>
              <a:t>もこもこ泡ターバン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0888" y="2578608"/>
            <a:ext cx="2002536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白いもこもこの泡に、</a:t>
            </a:r>
          </a:p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透明なシャボン玉を添える。</a:t>
            </a:r>
          </a:p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布のターバンではありません。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56875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03 / EYE PATCHES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キュウリの目パック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輪切りのキュウリを、左右の目に1枚ずつ載せる小物です。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04</a:t>
            </a:r>
          </a:p>
        </p:txBody>
      </p:sp>
      <p:pic>
        <p:nvPicPr>
          <p:cNvPr id="9" name="Picture 8" descr="exec-871844d4-edbb-4a08-9d69-90132a8b8d7d.png"/>
          <p:cNvPicPr>
            <a:picLocks noChangeAspect="1"/>
          </p:cNvPicPr>
          <p:nvPr/>
        </p:nvPicPr>
        <p:blipFill>
          <a:blip r:embed="rId2"/>
          <a:srcRect r="50000" t="50000"/>
          <a:stretch>
            <a:fillRect/>
          </a:stretch>
        </p:blipFill>
        <p:spPr>
          <a:xfrm>
            <a:off x="621792" y="1874519"/>
            <a:ext cx="420624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" y="61539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239572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173E3C"/>
                </a:solidFill>
                <a:latin typeface="Noto Sans CJK JP"/>
              </a:defRPr>
            </a:pPr>
            <a:r>
              <a:t>制作する形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67528" y="3182112"/>
            <a:ext cx="55778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173E3C"/>
                </a:solidFill>
                <a:latin typeface="Noto Sans CJK JP"/>
              </a:defRPr>
            </a:pPr>
            <a:r>
              <a:t>緑の皮と淡い果肉が分かる、</a:t>
            </a:r>
          </a:p>
          <a:p>
            <a:pPr>
              <a:spcAft>
                <a:spcPts val="800"/>
              </a:spcAft>
              <a:defRPr sz="2200" b="0">
                <a:solidFill>
                  <a:srgbClr val="173E3C"/>
                </a:solidFill>
                <a:latin typeface="Noto Sans CJK JP"/>
              </a:defRPr>
            </a:pPr>
            <a:r>
              <a:t>厚みのある輪切りキュウリ2枚。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0096" y="4974336"/>
            <a:ext cx="5669280" cy="7498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0" y="5175504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24685E"/>
                </a:solidFill>
                <a:latin typeface="Noto Sans CJK JP"/>
              </a:defRPr>
            </a:pPr>
            <a:r>
              <a:t>表情追従は付けません。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04 / BATH TOWEL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バスタオル｜身体に巻く着用品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胸元を覆うタイプと、腰に巻くタイプの2種類を基本案とします。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05</a:t>
            </a:r>
          </a:p>
        </p:txBody>
      </p:sp>
      <p:pic>
        <p:nvPicPr>
          <p:cNvPr id="9" name="Picture 8" descr="exec-871844d4-edbb-4a08-9d69-90132a8b8d7d.png"/>
          <p:cNvPicPr>
            <a:picLocks noChangeAspect="1"/>
          </p:cNvPicPr>
          <p:nvPr/>
        </p:nvPicPr>
        <p:blipFill>
          <a:blip r:embed="rId2"/>
          <a:srcRect l="50000" t="50000"/>
          <a:stretch>
            <a:fillRect/>
          </a:stretch>
        </p:blipFill>
        <p:spPr>
          <a:xfrm>
            <a:off x="621792" y="1874519"/>
            <a:ext cx="420624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" y="61539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5232" y="2167128"/>
            <a:ext cx="5742432" cy="15179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350008"/>
            <a:ext cx="5340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A｜胸元を覆うタイプ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871216"/>
            <a:ext cx="534009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胸元から身体を覆う、白い巻きタオル。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85232" y="3913632"/>
            <a:ext cx="5742432" cy="15179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4096512"/>
            <a:ext cx="5340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B｜腰巻きタイプ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617720"/>
            <a:ext cx="534009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腰から下を覆う、白い巻きタオル。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5824728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4685E"/>
                </a:solidFill>
                <a:latin typeface="Noto Sans CJK JP"/>
              </a:defRPr>
            </a:pPr>
            <a:r>
              <a:t>女性4種・男性3種で着用できるように制作します。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05 / AVATARS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バスタオルの対応アバター｜女性4種・男性3種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以下の7種で着用できるバスタオルを制作します。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6824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4685E"/>
                </a:solidFill>
                <a:latin typeface="Noto Sans CJK JP"/>
              </a:defRPr>
            </a:pPr>
            <a:r>
              <a:t>女性 4種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4050791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4685E"/>
                </a:solidFill>
                <a:latin typeface="Noto Sans CJK JP"/>
              </a:defRPr>
            </a:pPr>
            <a:r>
              <a:t>男性 3種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98424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nano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295" y="2075688"/>
            <a:ext cx="1463040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" y="36027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しなの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198424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nuka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936" y="2075688"/>
            <a:ext cx="1463040" cy="1463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48456" y="36027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マヌカ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198424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oe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576" y="2075688"/>
            <a:ext cx="1463040" cy="1463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83096" y="36027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198424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kikyo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29216" y="2075688"/>
            <a:ext cx="1463040" cy="14630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17736" y="36027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桔梗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75688" y="436168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lau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42616" y="4453127"/>
            <a:ext cx="1463040" cy="1463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31136" y="598017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300" b="1">
                <a:solidFill>
                  <a:srgbClr val="173E3C"/>
                </a:solidFill>
                <a:latin typeface="Noto Sans CJK JP"/>
              </a:defRPr>
            </a:pPr>
            <a:r>
              <a:t>ドラゴニュート・ヴラウ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10328" y="436168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amessa.jpg">
            <a:hlinkClick r:id="rId13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7256" y="4453127"/>
            <a:ext cx="1463040" cy="14630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65776" y="598017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バメッサ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4968" y="436168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komano.jpg">
            <a:hlinkClick r:id="rId15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1896" y="4453127"/>
            <a:ext cx="1463040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00416" y="598017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狛乃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6291072"/>
            <a:ext cx="320040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700" b="0">
                <a:solidFill>
                  <a:srgbClr val="61716B"/>
                </a:solidFill>
                <a:latin typeface="Noto Sans CJK JP"/>
              </a:defRPr>
            </a:pPr>
            <a:r>
              <a:t>画像出典：各モデルのBOOTH販売ページ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06 /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納品物｜2点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制作した4アイテムについて、以下を納品してください。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" y="2048256"/>
            <a:ext cx="5285232" cy="3867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386584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34670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73E3C"/>
                </a:solidFill>
                <a:latin typeface="Noto Sans CJK JP"/>
              </a:defRPr>
            </a:pPr>
            <a:r>
              <a:t>完成モデルデータ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325112"/>
            <a:ext cx="4645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FBX等のモデルデータ</a:t>
            </a:r>
          </a:p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テクスチャ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2048256"/>
            <a:ext cx="5285232" cy="3867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386584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334670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73E3C"/>
                </a:solidFill>
                <a:latin typeface="Noto Sans CJK JP"/>
              </a:defRPr>
            </a:pPr>
            <a:r>
              <a:t>Unity用データ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325112"/>
            <a:ext cx="4645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Prefab</a:t>
            </a:r>
          </a:p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マテリアル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07 /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制作の進め方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イメージを確認してから制作し、完成後に納品いただきます。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08</a:t>
            </a:r>
          </a:p>
        </p:txBody>
      </p:sp>
      <p:pic>
        <p:nvPicPr>
          <p:cNvPr id="9" name="Picture 8" descr="exec-c7a9a72c-5423-4325-bae1-c7d3b8f836c6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640080" y="1920240"/>
            <a:ext cx="2034540" cy="2034540"/>
          </a:xfrm>
          <a:prstGeom prst="rect">
            <a:avLst/>
          </a:prstGeom>
        </p:spPr>
      </p:pic>
      <p:pic>
        <p:nvPicPr>
          <p:cNvPr id="10" name="Picture 9" descr="exec-c7a9a72c-5423-4325-bae1-c7d3b8f836c6.png"/>
          <p:cNvPicPr>
            <a:picLocks noChangeAspect="1"/>
          </p:cNvPicPr>
          <p:nvPr/>
        </p:nvPicPr>
        <p:blipFill>
          <a:blip r:embed="rId2"/>
          <a:srcRect l="50000" b="50000"/>
          <a:stretch>
            <a:fillRect/>
          </a:stretch>
        </p:blipFill>
        <p:spPr>
          <a:xfrm>
            <a:off x="2674620" y="1920240"/>
            <a:ext cx="2034540" cy="2034540"/>
          </a:xfrm>
          <a:prstGeom prst="rect">
            <a:avLst/>
          </a:prstGeom>
        </p:spPr>
      </p:pic>
      <p:pic>
        <p:nvPicPr>
          <p:cNvPr id="11" name="Picture 10" descr="exec-871844d4-edbb-4a08-9d69-90132a8b8d7d.png"/>
          <p:cNvPicPr>
            <a:picLocks noChangeAspect="1"/>
          </p:cNvPicPr>
          <p:nvPr/>
        </p:nvPicPr>
        <p:blipFill>
          <a:blip r:embed="rId3"/>
          <a:srcRect r="50000" t="50000"/>
          <a:stretch>
            <a:fillRect/>
          </a:stretch>
        </p:blipFill>
        <p:spPr>
          <a:xfrm>
            <a:off x="640080" y="3954780"/>
            <a:ext cx="2034540" cy="2034540"/>
          </a:xfrm>
          <a:prstGeom prst="rect">
            <a:avLst/>
          </a:prstGeom>
        </p:spPr>
      </p:pic>
      <p:pic>
        <p:nvPicPr>
          <p:cNvPr id="12" name="Picture 11" descr="exec-871844d4-edbb-4a08-9d69-90132a8b8d7d.png"/>
          <p:cNvPicPr>
            <a:picLocks noChangeAspect="1"/>
          </p:cNvPicPr>
          <p:nvPr/>
        </p:nvPicPr>
        <p:blipFill>
          <a:blip r:embed="rId3"/>
          <a:srcRect l="50000" t="50000"/>
          <a:stretch>
            <a:fillRect/>
          </a:stretch>
        </p:blipFill>
        <p:spPr>
          <a:xfrm>
            <a:off x="2674620" y="3954780"/>
            <a:ext cx="2034540" cy="2034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08990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48656" y="2011680"/>
            <a:ext cx="5788152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21945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5798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イメージ確認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42616"/>
            <a:ext cx="44531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作るものの見た目を確認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8656" y="3319272"/>
            <a:ext cx="5788152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350215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3465576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モデル制作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950208"/>
            <a:ext cx="44531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4アイテムと対応版を制作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48656" y="4626864"/>
            <a:ext cx="5788152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4809744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477316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完成確認・納品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257800"/>
            <a:ext cx="44531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完成したモデルを確認して受領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