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booth.pm/ja/items/6106863" TargetMode="External"/><Relationship Id="rId4" Type="http://schemas.openxmlformats.org/officeDocument/2006/relationships/image" Target="../media/image5.jpg"/><Relationship Id="rId5" Type="http://schemas.openxmlformats.org/officeDocument/2006/relationships/hyperlink" Target="https://booth.pm/ja/items/5058077" TargetMode="External"/><Relationship Id="rId6" Type="http://schemas.openxmlformats.org/officeDocument/2006/relationships/image" Target="../media/image6.jpg"/><Relationship Id="rId7" Type="http://schemas.openxmlformats.org/officeDocument/2006/relationships/hyperlink" Target="https://booth.pm/ja/items/4667400" TargetMode="External"/><Relationship Id="rId8" Type="http://schemas.openxmlformats.org/officeDocument/2006/relationships/image" Target="../media/image7.jpg"/><Relationship Id="rId9" Type="http://schemas.openxmlformats.org/officeDocument/2006/relationships/hyperlink" Target="https://booth.pm/ja/items/3681787" TargetMode="External"/><Relationship Id="rId10" Type="http://schemas.openxmlformats.org/officeDocument/2006/relationships/image" Target="../media/image8.jpg"/><Relationship Id="rId11" Type="http://schemas.openxmlformats.org/officeDocument/2006/relationships/hyperlink" Target="https://booth.pm/ja/items/4169438" TargetMode="External"/><Relationship Id="rId12" Type="http://schemas.openxmlformats.org/officeDocument/2006/relationships/image" Target="../media/image9.jpg"/><Relationship Id="rId13" Type="http://schemas.openxmlformats.org/officeDocument/2006/relationships/hyperlink" Target="https://booth.pm/ja/items/5129599" TargetMode="External"/><Relationship Id="rId14" Type="http://schemas.openxmlformats.org/officeDocument/2006/relationships/image" Target="../media/image10.jpg"/><Relationship Id="rId15" Type="http://schemas.openxmlformats.org/officeDocument/2006/relationships/hyperlink" Target="https://booth.pm/ja/items/5260363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4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685E"/>
                </a:solidFill>
                <a:latin typeface="Noto Sans CJK JP"/>
              </a:defRPr>
            </a:pPr>
            <a:r>
              <a:t>VIRTUAL MARKET / PRODUCTION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3E3C"/>
                </a:solidFill>
                <a:latin typeface="Noto Sans CJK JP"/>
              </a:defRPr>
            </a:pPr>
            <a:r>
              <a:t>3Dお風呂セット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441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企業ブース｜特典配布モデル 制作発注資料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C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1967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企業ブース｜3Dお風呂セット 制作発注資料｜制作内容 v0.8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1168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73E3C"/>
                </a:solidFill>
                <a:latin typeface="Noto Sans CJK JP"/>
              </a:defRPr>
            </a:pPr>
            <a:r>
              <a:t>お風呂の楽しさを、</a:t>
            </a:r>
          </a:p>
          <a:p>
            <a:pPr>
              <a:spcAft>
                <a:spcPts val="800"/>
              </a:spcAft>
              <a:defRPr sz="3100" b="1">
                <a:solidFill>
                  <a:srgbClr val="173E3C"/>
                </a:solidFill>
                <a:latin typeface="Noto Sans CJK JP"/>
              </a:defRPr>
            </a:pPr>
            <a:r>
              <a:t>アバターで持ち帰る。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3803904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61716B"/>
                </a:solidFill>
                <a:latin typeface="Noto Sans CJK JP"/>
              </a:defRPr>
            </a:pPr>
            <a:r>
              <a:t>制作するものは、</a:t>
            </a:r>
          </a:p>
          <a:p>
            <a:pPr>
              <a:spcAft>
                <a:spcPts val="800"/>
              </a:spcAft>
              <a:defRPr sz="2100" b="0">
                <a:solidFill>
                  <a:srgbClr val="61716B"/>
                </a:solidFill>
                <a:latin typeface="Noto Sans CJK JP"/>
              </a:defRPr>
            </a:pPr>
            <a:r>
              <a:t>頭部小物3点と着用バスタオル。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" y="5056632"/>
            <a:ext cx="1463040" cy="292608"/>
          </a:xfrm>
          <a:prstGeom prst="roundRect">
            <a:avLst>
              <a:gd name="adj" fmla="val 10000"/>
            </a:avLst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5" y="5097780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3E3C"/>
                </a:solidFill>
                <a:latin typeface="Noto Sans CJK JP"/>
              </a:defRPr>
            </a:pPr>
            <a:r>
              <a:t>制作対象 4点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58568" y="5056632"/>
            <a:ext cx="2011680" cy="292608"/>
          </a:xfrm>
          <a:prstGeom prst="roundRect">
            <a:avLst>
              <a:gd name="adj" fmla="val 10000"/>
            </a:avLst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0008" y="5097780"/>
            <a:ext cx="18470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3E3C"/>
                </a:solidFill>
                <a:latin typeface="Noto Sans CJK JP"/>
              </a:defRPr>
            </a:pPr>
            <a:r>
              <a:t>女性4種・男性3種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" y="5559552"/>
            <a:ext cx="1828800" cy="292608"/>
          </a:xfrm>
          <a:prstGeom prst="roundRect">
            <a:avLst>
              <a:gd name="adj" fmla="val 10000"/>
            </a:avLst>
          </a:prstGeom>
          <a:solidFill>
            <a:srgbClr val="F9D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" y="5600700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3E3C"/>
                </a:solidFill>
                <a:latin typeface="Noto Sans CJK JP"/>
              </a:defRPr>
            </a:pPr>
            <a:r>
              <a:t>バスタブは対象外</a:t>
            </a:r>
          </a:p>
        </p:txBody>
      </p:sp>
      <p:pic>
        <p:nvPicPr>
          <p:cNvPr id="17" name="Picture 16" descr="exec-c7a9a72c-5423-4325-bae1-c7d3b8f836c6.png"/>
          <p:cNvPicPr>
            <a:picLocks noChangeAspect="1"/>
          </p:cNvPicPr>
          <p:nvPr/>
        </p:nvPicPr>
        <p:blipFill>
          <a:blip r:embed="rId2"/>
          <a:srcRect r="50000" b="50000"/>
          <a:stretch>
            <a:fillRect/>
          </a:stretch>
        </p:blipFill>
        <p:spPr>
          <a:xfrm>
            <a:off x="6601968" y="1627632"/>
            <a:ext cx="2263140" cy="2263140"/>
          </a:xfrm>
          <a:prstGeom prst="rect">
            <a:avLst/>
          </a:prstGeom>
        </p:spPr>
      </p:pic>
      <p:pic>
        <p:nvPicPr>
          <p:cNvPr id="18" name="Picture 17" descr="foam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108" y="1627632"/>
            <a:ext cx="2263140" cy="2263140"/>
          </a:xfrm>
          <a:prstGeom prst="rect">
            <a:avLst/>
          </a:prstGeom>
        </p:spPr>
      </p:pic>
      <p:pic>
        <p:nvPicPr>
          <p:cNvPr id="19" name="Picture 18" descr="exec-871844d4-edbb-4a08-9d69-90132a8b8d7d.png"/>
          <p:cNvPicPr>
            <a:picLocks noChangeAspect="1"/>
          </p:cNvPicPr>
          <p:nvPr/>
        </p:nvPicPr>
        <p:blipFill>
          <a:blip r:embed="rId4"/>
          <a:srcRect r="50000" t="50000"/>
          <a:stretch>
            <a:fillRect/>
          </a:stretch>
        </p:blipFill>
        <p:spPr>
          <a:xfrm>
            <a:off x="6601968" y="3890772"/>
            <a:ext cx="2263140" cy="2263140"/>
          </a:xfrm>
          <a:prstGeom prst="rect">
            <a:avLst/>
          </a:prstGeom>
        </p:spPr>
      </p:pic>
      <p:pic>
        <p:nvPicPr>
          <p:cNvPr id="20" name="Picture 19" descr="exec-871844d4-edbb-4a08-9d69-90132a8b8d7d.png"/>
          <p:cNvPicPr>
            <a:picLocks noChangeAspect="1"/>
          </p:cNvPicPr>
          <p:nvPr/>
        </p:nvPicPr>
        <p:blipFill>
          <a:blip r:embed="rId4"/>
          <a:srcRect l="50000" t="50000"/>
          <a:stretch>
            <a:fillRect/>
          </a:stretch>
        </p:blipFill>
        <p:spPr>
          <a:xfrm>
            <a:off x="8865108" y="3890772"/>
            <a:ext cx="2263140" cy="22631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01968" y="61813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参考イメージ（AI生成）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4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685E"/>
                </a:solidFill>
                <a:latin typeface="Noto Sans CJK JP"/>
              </a:defRPr>
            </a:pPr>
            <a:r>
              <a:t>01 /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3E3C"/>
                </a:solidFill>
                <a:latin typeface="Noto Sans CJK JP"/>
              </a:defRPr>
            </a:pPr>
            <a:r>
              <a:t>制作するもの｜4アイテム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441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6B"/>
                </a:solidFill>
                <a:latin typeface="Noto Sans CJK JP"/>
              </a:defRPr>
            </a:pPr>
            <a:r>
              <a:t>白を基調に、お風呂らしい清潔感とかわいらしさを揃えます。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C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1967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企業ブース｜3Dお風呂セット 制作発注資料｜制作内容 v0.8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975104"/>
            <a:ext cx="2660904" cy="3813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ec-c7a9a72c-5423-4325-bae1-c7d3b8f836c6.png"/>
          <p:cNvPicPr>
            <a:picLocks noChangeAspect="1"/>
          </p:cNvPicPr>
          <p:nvPr/>
        </p:nvPicPr>
        <p:blipFill>
          <a:blip r:embed="rId2"/>
          <a:srcRect r="50000" b="50000"/>
          <a:stretch>
            <a:fillRect/>
          </a:stretch>
        </p:blipFill>
        <p:spPr>
          <a:xfrm>
            <a:off x="667512" y="2130552"/>
            <a:ext cx="2350008" cy="23500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" y="4645152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010912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73E3C"/>
                </a:solidFill>
                <a:latin typeface="Noto Sans CJK JP"/>
              </a:defRPr>
            </a:pPr>
            <a:r>
              <a:t>アヒルの乗ったタオル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5486400"/>
            <a:ext cx="23500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1716B"/>
                </a:solidFill>
                <a:latin typeface="Noto Sans CJK JP"/>
              </a:defRPr>
            </a:pPr>
            <a:r>
              <a:t>頭の上に載せる小物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1975104"/>
            <a:ext cx="2660904" cy="3813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oam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130552"/>
            <a:ext cx="2350008" cy="23500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93008" y="4645152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5010912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73E3C"/>
                </a:solidFill>
                <a:latin typeface="Noto Sans CJK JP"/>
              </a:defRPr>
            </a:pPr>
            <a:r>
              <a:t>もこもこ泡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5486400"/>
            <a:ext cx="23500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1716B"/>
                </a:solidFill>
                <a:latin typeface="Noto Sans CJK JP"/>
              </a:defRPr>
            </a:pPr>
            <a:r>
              <a:t>頭の上にちょこんと載る泡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975104"/>
            <a:ext cx="2660904" cy="3813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xec-871844d4-edbb-4a08-9d69-90132a8b8d7d.png"/>
          <p:cNvPicPr>
            <a:picLocks noChangeAspect="1"/>
          </p:cNvPicPr>
          <p:nvPr/>
        </p:nvPicPr>
        <p:blipFill>
          <a:blip r:embed="rId4"/>
          <a:srcRect r="50000" t="50000"/>
          <a:stretch>
            <a:fillRect/>
          </a:stretch>
        </p:blipFill>
        <p:spPr>
          <a:xfrm>
            <a:off x="6300216" y="2130552"/>
            <a:ext cx="2350008" cy="23500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4645152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010912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73E3C"/>
                </a:solidFill>
                <a:latin typeface="Noto Sans CJK JP"/>
              </a:defRPr>
            </a:pPr>
            <a:r>
              <a:t>キュウリの目パック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486400"/>
            <a:ext cx="23500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1716B"/>
                </a:solidFill>
                <a:latin typeface="Noto Sans CJK JP"/>
              </a:defRPr>
            </a:pPr>
            <a:r>
              <a:t>左右の目に載せる小物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975104"/>
            <a:ext cx="2660904" cy="3813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xec-871844d4-edbb-4a08-9d69-90132a8b8d7d.png"/>
          <p:cNvPicPr>
            <a:picLocks noChangeAspect="1"/>
          </p:cNvPicPr>
          <p:nvPr/>
        </p:nvPicPr>
        <p:blipFill>
          <a:blip r:embed="rId4"/>
          <a:srcRect l="50000" t="50000"/>
          <a:stretch>
            <a:fillRect/>
          </a:stretch>
        </p:blipFill>
        <p:spPr>
          <a:xfrm>
            <a:off x="9116568" y="2130552"/>
            <a:ext cx="2350008" cy="23500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25712" y="4645152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5010912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73E3C"/>
                </a:solidFill>
                <a:latin typeface="Noto Sans CJK JP"/>
              </a:defRPr>
            </a:pPr>
            <a:r>
              <a:t>バスタオルモデル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5486400"/>
            <a:ext cx="23500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1716B"/>
                </a:solidFill>
                <a:latin typeface="Noto Sans CJK JP"/>
              </a:defRPr>
            </a:pPr>
            <a:r>
              <a:t>身体に巻く着用品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025896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685E"/>
                </a:solidFill>
                <a:latin typeface="Noto Sans CJK JP"/>
              </a:defRPr>
            </a:pPr>
            <a:r>
              <a:t>バスタブは別途制作するため、今回の依頼には含みません。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60533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参考イメージ（AI生成）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4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685E"/>
                </a:solidFill>
                <a:latin typeface="Noto Sans CJK JP"/>
              </a:defRPr>
            </a:pPr>
            <a:r>
              <a:t>02 / HEAD ACCESSORIES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3E3C"/>
                </a:solidFill>
                <a:latin typeface="Noto Sans CJK JP"/>
              </a:defRPr>
            </a:pPr>
            <a:r>
              <a:t>頭部小物｜薄いタオルと、もこもこの泡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441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6B"/>
                </a:solidFill>
                <a:latin typeface="Noto Sans CJK JP"/>
              </a:defRPr>
            </a:pPr>
            <a:r>
              <a:t>薄いタオルと、頭の上にちょこんと載る小ぶりな泡を制作します。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C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1967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企業ブース｜3Dお風呂セット 制作発注資料｜制作内容 v0.8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5358384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ec-c7a9a72c-5423-4325-bae1-c7d3b8f836c6.png"/>
          <p:cNvPicPr>
            <a:picLocks noChangeAspect="1"/>
          </p:cNvPicPr>
          <p:nvPr/>
        </p:nvPicPr>
        <p:blipFill>
          <a:blip r:embed="rId2"/>
          <a:srcRect r="50000" b="50000"/>
          <a:stretch>
            <a:fillRect/>
          </a:stretch>
        </p:blipFill>
        <p:spPr>
          <a:xfrm>
            <a:off x="768096" y="2093976"/>
            <a:ext cx="2697480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834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E3C"/>
                </a:solidFill>
                <a:latin typeface="Noto Sans CJK JP"/>
              </a:defRPr>
            </a:pPr>
            <a:r>
              <a:t>アヒルの乗ったタオル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578608"/>
            <a:ext cx="200253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E3C"/>
                </a:solidFill>
                <a:latin typeface="Noto Sans CJK JP"/>
              </a:defRPr>
            </a:pPr>
            <a:r>
              <a:t>薄い白いタオルの上に、</a:t>
            </a:r>
          </a:p>
          <a:p>
            <a:pPr>
              <a:spcAft>
                <a:spcPts val="800"/>
              </a:spcAft>
              <a:defRPr sz="1700" b="0">
                <a:solidFill>
                  <a:srgbClr val="173E3C"/>
                </a:solidFill>
                <a:latin typeface="Noto Sans CJK JP"/>
              </a:defRPr>
            </a:pPr>
            <a:r>
              <a:t>黄色いアヒルが乗ったデザイン。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68756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参考イメージ（AI生成）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358384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oam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7" y="2093976"/>
            <a:ext cx="2697480" cy="2697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83096" y="49834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E3C"/>
                </a:solidFill>
                <a:latin typeface="Noto Sans CJK JP"/>
              </a:defRPr>
            </a:pPr>
            <a:r>
              <a:t>もこもこ泡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2578608"/>
            <a:ext cx="200253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E3C"/>
                </a:solidFill>
                <a:latin typeface="Noto Sans CJK JP"/>
              </a:defRPr>
            </a:pPr>
            <a:r>
              <a:t>頭の上にちょこんと載る、</a:t>
            </a:r>
          </a:p>
          <a:p>
            <a:pPr>
              <a:spcAft>
                <a:spcPts val="800"/>
              </a:spcAft>
              <a:defRPr sz="1700" b="0">
                <a:solidFill>
                  <a:srgbClr val="173E3C"/>
                </a:solidFill>
                <a:latin typeface="Noto Sans CJK JP"/>
              </a:defRPr>
            </a:pPr>
            <a:r>
              <a:t>小ぶりのもこもこ泡。</a:t>
            </a:r>
          </a:p>
          <a:p>
            <a:pPr>
              <a:spcAft>
                <a:spcPts val="800"/>
              </a:spcAft>
              <a:defRPr sz="1700" b="0">
                <a:solidFill>
                  <a:srgbClr val="173E3C"/>
                </a:solidFill>
                <a:latin typeface="Noto Sans CJK JP"/>
              </a:defRPr>
            </a:pPr>
            <a:r>
              <a:t>制作対象は泡とシャボン玉のみ。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568756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参考イメージ（AI生成）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4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685E"/>
                </a:solidFill>
                <a:latin typeface="Noto Sans CJK JP"/>
              </a:defRPr>
            </a:pPr>
            <a:r>
              <a:t>03 / EYE PATCHES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3E3C"/>
                </a:solidFill>
                <a:latin typeface="Noto Sans CJK JP"/>
              </a:defRPr>
            </a:pPr>
            <a:r>
              <a:t>キュウリの目パック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441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6B"/>
                </a:solidFill>
                <a:latin typeface="Noto Sans CJK JP"/>
              </a:defRPr>
            </a:pPr>
            <a:r>
              <a:t>輪切りのキュウリを、左右の目に1枚ずつ載せる小物です。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C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1967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企業ブース｜3Dお風呂セット 制作発注資料｜制作内容 v0.8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04</a:t>
            </a:r>
          </a:p>
        </p:txBody>
      </p:sp>
      <p:pic>
        <p:nvPicPr>
          <p:cNvPr id="9" name="Picture 8" descr="exec-871844d4-edbb-4a08-9d69-90132a8b8d7d.png"/>
          <p:cNvPicPr>
            <a:picLocks noChangeAspect="1"/>
          </p:cNvPicPr>
          <p:nvPr/>
        </p:nvPicPr>
        <p:blipFill>
          <a:blip r:embed="rId2"/>
          <a:srcRect r="50000" t="50000"/>
          <a:stretch>
            <a:fillRect/>
          </a:stretch>
        </p:blipFill>
        <p:spPr>
          <a:xfrm>
            <a:off x="621792" y="1874519"/>
            <a:ext cx="420624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61539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参考イメージ（AI生成）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3957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73E3C"/>
                </a:solidFill>
                <a:latin typeface="Noto Sans CJK JP"/>
              </a:defRPr>
            </a:pPr>
            <a:r>
              <a:t>制作する形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528" y="3182112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73E3C"/>
                </a:solidFill>
                <a:latin typeface="Noto Sans CJK JP"/>
              </a:defRPr>
            </a:pPr>
            <a:r>
              <a:t>緑の皮と淡い果肉が分かる、</a:t>
            </a:r>
          </a:p>
          <a:p>
            <a:pPr>
              <a:spcAft>
                <a:spcPts val="800"/>
              </a:spcAft>
              <a:defRPr sz="2200" b="0">
                <a:solidFill>
                  <a:srgbClr val="173E3C"/>
                </a:solidFill>
                <a:latin typeface="Noto Sans CJK JP"/>
              </a:defRPr>
            </a:pPr>
            <a:r>
              <a:t>厚みのある輪切りキュウリ2枚。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0096" y="4974336"/>
            <a:ext cx="5669280" cy="749808"/>
          </a:xfrm>
          <a:prstGeom prst="roundRect">
            <a:avLst>
              <a:gd name="adj" fmla="val 10000"/>
            </a:avLst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517550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24685E"/>
                </a:solidFill>
                <a:latin typeface="Noto Sans CJK JP"/>
              </a:defRPr>
            </a:pPr>
            <a:r>
              <a:t>表情追従は付けません。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4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685E"/>
                </a:solidFill>
                <a:latin typeface="Noto Sans CJK JP"/>
              </a:defRPr>
            </a:pPr>
            <a:r>
              <a:t>04 / BATH TOWEL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3E3C"/>
                </a:solidFill>
                <a:latin typeface="Noto Sans CJK JP"/>
              </a:defRPr>
            </a:pPr>
            <a:r>
              <a:t>バスタオル｜身体に巻く着用品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441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6B"/>
                </a:solidFill>
                <a:latin typeface="Noto Sans CJK JP"/>
              </a:defRPr>
            </a:pPr>
            <a:r>
              <a:t>胸元を覆うタイプと、腰に巻くタイプの2種類を基本案とします。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C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1967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企業ブース｜3Dお風呂セット 制作発注資料｜制作内容 v0.8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05</a:t>
            </a:r>
          </a:p>
        </p:txBody>
      </p:sp>
      <p:pic>
        <p:nvPicPr>
          <p:cNvPr id="9" name="Picture 8" descr="exec-871844d4-edbb-4a08-9d69-90132a8b8d7d.png"/>
          <p:cNvPicPr>
            <a:picLocks noChangeAspect="1"/>
          </p:cNvPicPr>
          <p:nvPr/>
        </p:nvPicPr>
        <p:blipFill>
          <a:blip r:embed="rId2"/>
          <a:srcRect l="50000" t="50000"/>
          <a:stretch>
            <a:fillRect/>
          </a:stretch>
        </p:blipFill>
        <p:spPr>
          <a:xfrm>
            <a:off x="621792" y="1874519"/>
            <a:ext cx="420624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61539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参考イメージ（AI生成）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2167128"/>
            <a:ext cx="5742432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350008"/>
            <a:ext cx="5340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685E"/>
                </a:solidFill>
                <a:latin typeface="Noto Sans CJK JP"/>
              </a:defRPr>
            </a:pPr>
            <a:r>
              <a:t>A｜胸元を覆うタイプ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71216"/>
            <a:ext cx="5340096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73E3C"/>
                </a:solidFill>
                <a:latin typeface="Noto Sans CJK JP"/>
              </a:defRPr>
            </a:pPr>
            <a:r>
              <a:t>胸元から身体を覆う、白い巻きタオル。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85232" y="3913632"/>
            <a:ext cx="5742432" cy="1517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4096512"/>
            <a:ext cx="5340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685E"/>
                </a:solidFill>
                <a:latin typeface="Noto Sans CJK JP"/>
              </a:defRPr>
            </a:pPr>
            <a:r>
              <a:t>B｜腰巻きタイプ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617720"/>
            <a:ext cx="5340096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73E3C"/>
                </a:solidFill>
                <a:latin typeface="Noto Sans CJK JP"/>
              </a:defRPr>
            </a:pPr>
            <a:r>
              <a:t>腰から下を覆う、白い巻きタオル。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582472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4685E"/>
                </a:solidFill>
                <a:latin typeface="Noto Sans CJK JP"/>
              </a:defRPr>
            </a:pPr>
            <a:r>
              <a:t>女性4種・男性3種で着用できるように制作します。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4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685E"/>
                </a:solidFill>
                <a:latin typeface="Noto Sans CJK JP"/>
              </a:defRPr>
            </a:pPr>
            <a:r>
              <a:t>05 / AVATARS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3E3C"/>
                </a:solidFill>
                <a:latin typeface="Noto Sans CJK JP"/>
              </a:defRPr>
            </a:pPr>
            <a:r>
              <a:t>バスタオルの対応アバター｜女性4種・男性3種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441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6B"/>
                </a:solidFill>
                <a:latin typeface="Noto Sans CJK JP"/>
              </a:defRPr>
            </a:pPr>
            <a:r>
              <a:t>以下の7種で着用できるバスタオルを制作します。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C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1967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企業ブース｜3Dお風呂セット 制作発注資料｜制作内容 v0.8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682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4685E"/>
                </a:solidFill>
                <a:latin typeface="Noto Sans CJK JP"/>
              </a:defRPr>
            </a:pPr>
            <a:r>
              <a:t>女性 4種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05079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4685E"/>
                </a:solidFill>
                <a:latin typeface="Noto Sans CJK JP"/>
              </a:defRPr>
            </a:pPr>
            <a:r>
              <a:t>男性 3種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84248"/>
            <a:ext cx="2596896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nano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5" y="2075688"/>
            <a:ext cx="146304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" y="36027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73E3C"/>
                </a:solidFill>
                <a:latin typeface="Noto Sans CJK JP"/>
              </a:defRPr>
            </a:pPr>
            <a:r>
              <a:t>しなの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1984248"/>
            <a:ext cx="2596896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nuka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2075688"/>
            <a:ext cx="1463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48456" y="36027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73E3C"/>
                </a:solidFill>
                <a:latin typeface="Noto Sans CJK JP"/>
              </a:defRPr>
            </a:pPr>
            <a:r>
              <a:t>マヌカ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984248"/>
            <a:ext cx="2596896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oe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2075688"/>
            <a:ext cx="1463040" cy="1463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83096" y="36027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73E3C"/>
                </a:solidFill>
                <a:latin typeface="Noto Sans CJK JP"/>
              </a:defRPr>
            </a:pPr>
            <a:r>
              <a:t>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1984248"/>
            <a:ext cx="2596896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ikyo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216" y="2075688"/>
            <a:ext cx="1463040" cy="1463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17736" y="36027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73E3C"/>
                </a:solidFill>
                <a:latin typeface="Noto Sans CJK JP"/>
              </a:defRPr>
            </a:pPr>
            <a:r>
              <a:t>桔梗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75688" y="4361688"/>
            <a:ext cx="2596896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lau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2616" y="4453127"/>
            <a:ext cx="1463040" cy="1463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31136" y="598017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73E3C"/>
                </a:solidFill>
                <a:latin typeface="Noto Sans CJK JP"/>
              </a:defRPr>
            </a:pPr>
            <a:r>
              <a:t>ドラゴニュート・ヴラウ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10328" y="4361688"/>
            <a:ext cx="2596896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amessa.jpg">
            <a:hlinkClick r:id="rId13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7256" y="4453127"/>
            <a:ext cx="1463040" cy="1463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65776" y="598017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73E3C"/>
                </a:solidFill>
                <a:latin typeface="Noto Sans CJK JP"/>
              </a:defRPr>
            </a:pPr>
            <a:r>
              <a:t>バメッサ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44968" y="4361688"/>
            <a:ext cx="2596896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komano.jpg">
            <a:hlinkClick r:id="rId15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1896" y="4453127"/>
            <a:ext cx="1463040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00416" y="598017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73E3C"/>
                </a:solidFill>
                <a:latin typeface="Noto Sans CJK JP"/>
              </a:defRPr>
            </a:pPr>
            <a:r>
              <a:t>狛乃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6291072"/>
            <a:ext cx="32004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700" b="0">
                <a:solidFill>
                  <a:srgbClr val="61716B"/>
                </a:solidFill>
                <a:latin typeface="Noto Sans CJK JP"/>
              </a:defRPr>
            </a:pPr>
            <a:r>
              <a:t>画像出典：各モデルのBOOTH販売ページ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4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685E"/>
                </a:solidFill>
                <a:latin typeface="Noto Sans CJK JP"/>
              </a:defRPr>
            </a:pPr>
            <a:r>
              <a:t>06 /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3E3C"/>
                </a:solidFill>
                <a:latin typeface="Noto Sans CJK JP"/>
              </a:defRPr>
            </a:pPr>
            <a:r>
              <a:t>納品物｜2点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441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6B"/>
                </a:solidFill>
                <a:latin typeface="Noto Sans CJK JP"/>
              </a:defRPr>
            </a:pPr>
            <a:r>
              <a:t>制作した4アイテムについて、以下を納品してください。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C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1967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企業ブース｜3Dお風呂セット 制作発注資料｜制作内容 v0.8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2048256"/>
            <a:ext cx="5285232" cy="3867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386584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24685E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4670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73E3C"/>
                </a:solidFill>
                <a:latin typeface="Noto Sans CJK JP"/>
              </a:defRPr>
            </a:pPr>
            <a:r>
              <a:t>完成モデルデータ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25112"/>
            <a:ext cx="46451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61716B"/>
                </a:solidFill>
                <a:latin typeface="Noto Sans CJK JP"/>
              </a:defRPr>
            </a:pPr>
            <a:r>
              <a:t>FBX等のモデルデータ</a:t>
            </a:r>
          </a:p>
          <a:p>
            <a:pPr>
              <a:spcAft>
                <a:spcPts val="800"/>
              </a:spcAft>
              <a:defRPr sz="2200" b="0">
                <a:solidFill>
                  <a:srgbClr val="61716B"/>
                </a:solidFill>
                <a:latin typeface="Noto Sans CJK JP"/>
              </a:defRPr>
            </a:pPr>
            <a:r>
              <a:t>テクスチャ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2048256"/>
            <a:ext cx="5285232" cy="3867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386584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24685E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34670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73E3C"/>
                </a:solidFill>
                <a:latin typeface="Noto Sans CJK JP"/>
              </a:defRPr>
            </a:pPr>
            <a:r>
              <a:t>Unity用データ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25112"/>
            <a:ext cx="46451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61716B"/>
                </a:solidFill>
                <a:latin typeface="Noto Sans CJK JP"/>
              </a:defRPr>
            </a:pPr>
            <a:r>
              <a:t>FBX・テクスチャ</a:t>
            </a:r>
          </a:p>
          <a:p>
            <a:pPr>
              <a:spcAft>
                <a:spcPts val="800"/>
              </a:spcAft>
              <a:defRPr sz="2200" b="0">
                <a:solidFill>
                  <a:srgbClr val="61716B"/>
                </a:solidFill>
                <a:latin typeface="Noto Sans CJK JP"/>
              </a:defRPr>
            </a:pPr>
            <a:r>
              <a:t>Prefab・マテリアル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7161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685E"/>
                </a:solidFill>
                <a:latin typeface="Noto Sans CJK JP"/>
              </a:defRPr>
            </a:pPr>
            <a:r>
              <a:t>Unity用データには、FBX・テクスチャも同梱してください。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4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685E"/>
                </a:solidFill>
                <a:latin typeface="Noto Sans CJK JP"/>
              </a:defRPr>
            </a:pPr>
            <a:r>
              <a:t>07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3E3C"/>
                </a:solidFill>
                <a:latin typeface="Noto Sans CJK JP"/>
              </a:defRPr>
            </a:pPr>
            <a:r>
              <a:t>制作の進め方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441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6B"/>
                </a:solidFill>
                <a:latin typeface="Noto Sans CJK JP"/>
              </a:defRPr>
            </a:pPr>
            <a:r>
              <a:t>イメージを確認してから制作し、完成後に納品いただきます。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C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1967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アース製薬 企業ブース｜3Dお風呂セット 制作発注資料｜制作内容 v0.8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685E"/>
                </a:solidFill>
                <a:latin typeface="Noto Sans CJK JP"/>
              </a:defRPr>
            </a:pPr>
            <a:r>
              <a:t>08</a:t>
            </a:r>
          </a:p>
        </p:txBody>
      </p:sp>
      <p:pic>
        <p:nvPicPr>
          <p:cNvPr id="9" name="Picture 8" descr="exec-c7a9a72c-5423-4325-bae1-c7d3b8f836c6.png"/>
          <p:cNvPicPr>
            <a:picLocks noChangeAspect="1"/>
          </p:cNvPicPr>
          <p:nvPr/>
        </p:nvPicPr>
        <p:blipFill>
          <a:blip r:embed="rId2"/>
          <a:srcRect r="50000" b="50000"/>
          <a:stretch>
            <a:fillRect/>
          </a:stretch>
        </p:blipFill>
        <p:spPr>
          <a:xfrm>
            <a:off x="640080" y="1920240"/>
            <a:ext cx="2034540" cy="2034540"/>
          </a:xfrm>
          <a:prstGeom prst="rect">
            <a:avLst/>
          </a:prstGeom>
        </p:spPr>
      </p:pic>
      <p:pic>
        <p:nvPicPr>
          <p:cNvPr id="10" name="Picture 9" descr="foam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0" y="1920240"/>
            <a:ext cx="2034540" cy="2034540"/>
          </a:xfrm>
          <a:prstGeom prst="rect">
            <a:avLst/>
          </a:prstGeom>
        </p:spPr>
      </p:pic>
      <p:pic>
        <p:nvPicPr>
          <p:cNvPr id="11" name="Picture 10" descr="exec-871844d4-edbb-4a08-9d69-90132a8b8d7d.png"/>
          <p:cNvPicPr>
            <a:picLocks noChangeAspect="1"/>
          </p:cNvPicPr>
          <p:nvPr/>
        </p:nvPicPr>
        <p:blipFill>
          <a:blip r:embed="rId4"/>
          <a:srcRect r="50000" t="50000"/>
          <a:stretch>
            <a:fillRect/>
          </a:stretch>
        </p:blipFill>
        <p:spPr>
          <a:xfrm>
            <a:off x="640080" y="3954780"/>
            <a:ext cx="2034540" cy="2034540"/>
          </a:xfrm>
          <a:prstGeom prst="rect">
            <a:avLst/>
          </a:prstGeom>
        </p:spPr>
      </p:pic>
      <p:pic>
        <p:nvPicPr>
          <p:cNvPr id="12" name="Picture 11" descr="exec-871844d4-edbb-4a08-9d69-90132a8b8d7d.png"/>
          <p:cNvPicPr>
            <a:picLocks noChangeAspect="1"/>
          </p:cNvPicPr>
          <p:nvPr/>
        </p:nvPicPr>
        <p:blipFill>
          <a:blip r:embed="rId4"/>
          <a:srcRect l="50000" t="50000"/>
          <a:stretch>
            <a:fillRect/>
          </a:stretch>
        </p:blipFill>
        <p:spPr>
          <a:xfrm>
            <a:off x="2674620" y="3954780"/>
            <a:ext cx="2034540" cy="20345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08990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1716B"/>
                </a:solidFill>
                <a:latin typeface="Noto Sans CJK JP"/>
              </a:defRPr>
            </a:pPr>
            <a:r>
              <a:t>参考イメージ（AI生成）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2011680"/>
            <a:ext cx="5788152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945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685E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15798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73E3C"/>
                </a:solidFill>
                <a:latin typeface="Noto Sans CJK JP"/>
              </a:defRPr>
            </a:pPr>
            <a:r>
              <a:t>イメージ確認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42616"/>
            <a:ext cx="4453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1716B"/>
                </a:solidFill>
                <a:latin typeface="Noto Sans CJK JP"/>
              </a:defRPr>
            </a:pPr>
            <a:r>
              <a:t>作るものの見た目を確認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48656" y="3319272"/>
            <a:ext cx="5788152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5021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685E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46557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73E3C"/>
                </a:solidFill>
                <a:latin typeface="Noto Sans CJK JP"/>
              </a:defRPr>
            </a:pPr>
            <a:r>
              <a:t>モデル制作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50208"/>
            <a:ext cx="4453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1716B"/>
                </a:solidFill>
                <a:latin typeface="Noto Sans CJK JP"/>
              </a:defRPr>
            </a:pPr>
            <a:r>
              <a:t>4アイテムと対応版を制作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48656" y="4626864"/>
            <a:ext cx="5788152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80974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685E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7731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73E3C"/>
                </a:solidFill>
                <a:latin typeface="Noto Sans CJK JP"/>
              </a:defRPr>
            </a:pPr>
            <a:r>
              <a:t>完成確認・納品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57800"/>
            <a:ext cx="4453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1716B"/>
                </a:solidFill>
                <a:latin typeface="Noto Sans CJK JP"/>
              </a:defRPr>
            </a:pPr>
            <a:r>
              <a:t>完成したモデルを確認して受領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