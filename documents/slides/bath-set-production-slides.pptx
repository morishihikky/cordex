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VIRTUAL MARKET / PRODUCTION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3Dお風呂セット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企業ブース｜特典配布モデル 制作発注資料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01168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お風呂の楽しさを、</a:t>
            </a:r>
          </a:p>
          <a:p>
            <a:pPr>
              <a:spcAft>
                <a:spcPts val="800"/>
              </a:spcAft>
              <a:defRPr sz="3100" b="1">
                <a:solidFill>
                  <a:srgbClr val="173E3C"/>
                </a:solidFill>
                <a:latin typeface="Noto Sans CJK JP"/>
              </a:defRPr>
            </a:pPr>
            <a:r>
              <a:t>アバターで持ち帰る。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380390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制作するものは、</a:t>
            </a:r>
          </a:p>
          <a:p>
            <a:pPr>
              <a:spcAft>
                <a:spcPts val="800"/>
              </a:spcAft>
              <a:defRPr sz="2100" b="0">
                <a:solidFill>
                  <a:srgbClr val="61716B"/>
                </a:solidFill>
                <a:latin typeface="Noto Sans CJK JP"/>
              </a:defRPr>
            </a:pPr>
            <a:r>
              <a:t>頭部小物3点と着用バスタオル。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" y="5056632"/>
            <a:ext cx="146304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5" y="5097780"/>
            <a:ext cx="1298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制作対象 4点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58568" y="5056632"/>
            <a:ext cx="1828800" cy="2926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0008" y="5097780"/>
            <a:ext cx="166420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対応アバター 5種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" y="5559552"/>
            <a:ext cx="1828800" cy="292608"/>
          </a:xfrm>
          <a:prstGeom prst="roundRect">
            <a:avLst>
              <a:gd name="adj" fmla="val 10000"/>
            </a:avLst>
          </a:prstGeom>
          <a:solidFill>
            <a:srgbClr val="F9D7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5" y="5600700"/>
            <a:ext cx="166420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173E3C"/>
                </a:solidFill>
                <a:latin typeface="Noto Sans CJK JP"/>
              </a:defRPr>
            </a:pPr>
            <a:r>
              <a:t>バスタブは対象外</a:t>
            </a:r>
          </a:p>
        </p:txBody>
      </p:sp>
      <p:pic>
        <p:nvPicPr>
          <p:cNvPr id="17" name="Picture 16" descr="exec-871844d4-edbb-4a08-9d69-90132a8b8d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1627632"/>
            <a:ext cx="4526280" cy="4526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01968" y="618134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01 /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制作するもの｜4アイテム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白を基調に、お風呂らしい清潔感とかわいらしさを揃えます。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871844d4-edbb-4a08-9d69-90132a8b8d7d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667512" y="2130552"/>
            <a:ext cx="2350008" cy="23500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6656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頭の上に載せる小物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8416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871844d4-edbb-4a08-9d69-90132a8b8d7d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3483864" y="2130552"/>
            <a:ext cx="2350008" cy="23500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93008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もこもこターバン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頭に巻く、ふわふわのターバン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xec-871844d4-edbb-4a08-9d69-90132a8b8d7d.png"/>
          <p:cNvPicPr>
            <a:picLocks noChangeAspect="1"/>
          </p:cNvPicPr>
          <p:nvPr/>
        </p:nvPicPr>
        <p:blipFill>
          <a:blip r:embed="rId2"/>
          <a:srcRect r="50000" t="50000"/>
          <a:stretch>
            <a:fillRect/>
          </a:stretch>
        </p:blipFill>
        <p:spPr>
          <a:xfrm>
            <a:off x="6300216" y="2130552"/>
            <a:ext cx="2350008" cy="23500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09360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左右の目に載せる小物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1975104"/>
            <a:ext cx="2660904" cy="38130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9116568" y="2130552"/>
            <a:ext cx="2350008" cy="23500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125712" y="4645152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5010912"/>
            <a:ext cx="235000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73E3C"/>
                </a:solidFill>
                <a:latin typeface="Noto Sans CJK JP"/>
              </a:defRPr>
            </a:pPr>
            <a:r>
              <a:t>バスタオルモデル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2" y="5486400"/>
            <a:ext cx="2350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61716B"/>
                </a:solidFill>
                <a:latin typeface="Noto Sans CJK JP"/>
              </a:defRPr>
            </a:pPr>
            <a:r>
              <a:t>身体に巻く着用品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025896"/>
            <a:ext cx="7040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4685E"/>
                </a:solidFill>
                <a:latin typeface="Noto Sans CJK JP"/>
              </a:defRPr>
            </a:pPr>
            <a:r>
              <a:t>バスタブは別途制作するため、今回の依頼には含みません。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60533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02 / HEAD ACCESSORIES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頭部小物｜タオルとターバン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どちらも、頭に装着して使うアイテムです。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ec-871844d4-edbb-4a08-9d69-90132a8b8d7d.png"/>
          <p:cNvPicPr>
            <a:picLocks noChangeAspect="1"/>
          </p:cNvPicPr>
          <p:nvPr/>
        </p:nvPicPr>
        <p:blipFill>
          <a:blip r:embed="rId2"/>
          <a:srcRect r="50000" b="50000"/>
          <a:stretch>
            <a:fillRect/>
          </a:stretch>
        </p:blipFill>
        <p:spPr>
          <a:xfrm>
            <a:off x="768096" y="2093976"/>
            <a:ext cx="2697480" cy="2697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6384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アヒルの乗ったタオル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4176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折り畳んだ白いタオルの上に、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黄色いアヒルが乗ったデザイン。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74519"/>
            <a:ext cx="5358384" cy="4297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ec-871844d4-edbb-4a08-9d69-90132a8b8d7d.png"/>
          <p:cNvPicPr>
            <a:picLocks noChangeAspect="1"/>
          </p:cNvPicPr>
          <p:nvPr/>
        </p:nvPicPr>
        <p:blipFill>
          <a:blip r:embed="rId2"/>
          <a:srcRect l="50000" b="50000"/>
          <a:stretch>
            <a:fillRect/>
          </a:stretch>
        </p:blipFill>
        <p:spPr>
          <a:xfrm>
            <a:off x="6464807" y="2093976"/>
            <a:ext cx="2697480" cy="2697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83096" y="49834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100" b="1">
                <a:solidFill>
                  <a:srgbClr val="173E3C"/>
                </a:solidFill>
                <a:latin typeface="Noto Sans CJK JP"/>
              </a:defRPr>
            </a:pPr>
            <a:r>
              <a:t>もこもこターバン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0888" y="2578608"/>
            <a:ext cx="200253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白く、ふんわりした質感の</a:t>
            </a:r>
          </a:p>
          <a:p>
            <a:pPr>
              <a:spcAft>
                <a:spcPts val="800"/>
              </a:spcAft>
              <a:defRPr sz="1700" b="0">
                <a:solidFill>
                  <a:srgbClr val="173E3C"/>
                </a:solidFill>
                <a:latin typeface="Noto Sans CJK JP"/>
              </a:defRPr>
            </a:pPr>
            <a:r>
              <a:t>頭に巻くターバン。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568756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03 / EYE PATCHES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キュウリの目パック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輪切りのキュウリを、左右の目に1枚ずつ載せる小物です。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r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39572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制作する形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67528" y="3182112"/>
            <a:ext cx="557784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緑の皮と淡い果肉が分かる、</a:t>
            </a:r>
          </a:p>
          <a:p>
            <a:pPr>
              <a:spcAft>
                <a:spcPts val="800"/>
              </a:spcAft>
              <a:defRPr sz="2200" b="0">
                <a:solidFill>
                  <a:srgbClr val="173E3C"/>
                </a:solidFill>
                <a:latin typeface="Noto Sans CJK JP"/>
              </a:defRPr>
            </a:pPr>
            <a:r>
              <a:t>厚みのある輪切りキュウリ2枚。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0096" y="4974336"/>
            <a:ext cx="5669280" cy="749808"/>
          </a:xfrm>
          <a:prstGeom prst="roundRect">
            <a:avLst>
              <a:gd name="adj" fmla="val 10000"/>
            </a:avLst>
          </a:prstGeom>
          <a:solidFill>
            <a:srgbClr val="E4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5175504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24685E"/>
                </a:solidFill>
                <a:latin typeface="Noto Sans CJK JP"/>
              </a:defRPr>
            </a:pPr>
            <a:r>
              <a:t>表情追従は付けません。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04 / BATH TOWEL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バスタオル｜身体に巻く着用品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胸元を覆うタイプと、腰に巻くタイプの2種類を基本案とします。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05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621792" y="1874519"/>
            <a:ext cx="4206240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" y="61539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85232" y="2167128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350008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A｜胸元を覆うタイプ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871216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胸元から身体を覆う、白い巻きタオル。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85232" y="3913632"/>
            <a:ext cx="5742432" cy="15179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4096512"/>
            <a:ext cx="534009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24685E"/>
                </a:solidFill>
                <a:latin typeface="Noto Sans CJK JP"/>
              </a:defRPr>
            </a:pPr>
            <a:r>
              <a:t>B｜腰巻きタイプ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617720"/>
            <a:ext cx="5340096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73E3C"/>
                </a:solidFill>
                <a:latin typeface="Noto Sans CJK JP"/>
              </a:defRPr>
            </a:pPr>
            <a:r>
              <a:t>腰から下を覆う、白い巻きタオル。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582472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4685E"/>
                </a:solidFill>
                <a:latin typeface="Noto Sans CJK JP"/>
              </a:defRPr>
            </a:pPr>
            <a:r>
              <a:t>以下の5アバターで着用できるように制作します。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05 / AVATARS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バスタオルの対応アバター｜5種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以下のアバターに合わせたバスタオルを制作します。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01952"/>
            <a:ext cx="55321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48256"/>
            <a:ext cx="5212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011680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しなの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084832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Shinano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688336"/>
            <a:ext cx="55321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834640"/>
            <a:ext cx="5212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798064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マヌカ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871216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Manuka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474720"/>
            <a:ext cx="55321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621024"/>
            <a:ext cx="5212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584448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2544" y="3657600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Moe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261104"/>
            <a:ext cx="55321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4407408"/>
            <a:ext cx="5212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370832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ライム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52544" y="4443984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Lime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047488"/>
            <a:ext cx="55321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193792"/>
            <a:ext cx="521207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4685E"/>
                </a:solidFill>
                <a:latin typeface="Noto Sans CJK JP"/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57216"/>
            <a:ext cx="2560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300" b="1">
                <a:solidFill>
                  <a:srgbClr val="173E3C"/>
                </a:solidFill>
                <a:latin typeface="Noto Sans CJK JP"/>
              </a:defRPr>
            </a:pPr>
            <a:r>
              <a:t>桔梗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2544" y="5230368"/>
            <a:ext cx="1463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Kikyo</a:t>
            </a:r>
          </a:p>
        </p:txBody>
      </p:sp>
      <p:pic>
        <p:nvPicPr>
          <p:cNvPr id="29" name="Picture 28" descr="exec-871844d4-edbb-4a08-9d69-90132a8b8d7d.png"/>
          <p:cNvPicPr>
            <a:picLocks noChangeAspect="1"/>
          </p:cNvPicPr>
          <p:nvPr/>
        </p:nvPicPr>
        <p:blipFill>
          <a:blip r:embed="rId2"/>
          <a:srcRect l="50000" t="50000"/>
          <a:stretch>
            <a:fillRect/>
          </a:stretch>
        </p:blipFill>
        <p:spPr>
          <a:xfrm>
            <a:off x="7114032" y="1929384"/>
            <a:ext cx="4096512" cy="40965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114032" y="6099048"/>
            <a:ext cx="40965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06 /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納品物｜2点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制作した4アイテムについて、以下を納品してください。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完成モデルデータ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FBX等のモデルデータ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テクスチャ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2048256"/>
            <a:ext cx="5285232" cy="3867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65392" y="2386584"/>
            <a:ext cx="1371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3346704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173E3C"/>
                </a:solidFill>
                <a:latin typeface="Noto Sans CJK JP"/>
              </a:defRPr>
            </a:pPr>
            <a:r>
              <a:t>Unity用データ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325112"/>
            <a:ext cx="4645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Prefab</a:t>
            </a:r>
          </a:p>
          <a:p>
            <a:pPr>
              <a:spcAft>
                <a:spcPts val="800"/>
              </a:spcAft>
              <a:defRPr sz="2200" b="0">
                <a:solidFill>
                  <a:srgbClr val="61716B"/>
                </a:solidFill>
                <a:latin typeface="Noto Sans CJK JP"/>
              </a:defRPr>
            </a:pPr>
            <a:r>
              <a:t>マテリアル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46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4685E"/>
                </a:solidFill>
                <a:latin typeface="Noto Sans CJK JP"/>
              </a:defRPr>
            </a:pPr>
            <a:r>
              <a:t>07 /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73E3C"/>
                </a:solidFill>
                <a:latin typeface="Noto Sans CJK JP"/>
              </a:defRPr>
            </a:pPr>
            <a:r>
              <a:t>制作の進め方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3441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61716B"/>
                </a:solidFill>
                <a:latin typeface="Noto Sans CJK JP"/>
              </a:defRPr>
            </a:pPr>
            <a:r>
              <a:t>イメージを確認してから制作し、完成後に納品いただきます。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0972"/>
          </a:xfrm>
          <a:prstGeom prst="rect">
            <a:avLst/>
          </a:prstGeom>
          <a:solidFill>
            <a:srgbClr val="CEDF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651967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アース製薬 企業ブース｜3Dお風呂セット 制作発注資料｜制作内容 v0.4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28248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4685E"/>
                </a:solidFill>
                <a:latin typeface="Noto Sans CJK JP"/>
              </a:defRPr>
            </a:pPr>
            <a:r>
              <a:t>08</a:t>
            </a:r>
          </a:p>
        </p:txBody>
      </p:sp>
      <p:pic>
        <p:nvPicPr>
          <p:cNvPr id="9" name="Picture 8" descr="exec-871844d4-edbb-4a08-9d69-90132a8b8d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4069080" cy="406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0899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61716B"/>
                </a:solidFill>
                <a:latin typeface="Noto Sans CJK JP"/>
              </a:defRPr>
            </a:pPr>
            <a:r>
              <a:t>参考イメージ（AI生成）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48656" y="2011680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21945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215798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イメージ確認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642616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作るものの見た目を確認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48656" y="3319272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0" y="350215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46557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モデル制作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950208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4アイテムと対応版を制作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48656" y="4626864"/>
            <a:ext cx="5788152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0" y="480974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4685E"/>
                </a:solidFill>
                <a:latin typeface="Noto Sans CJK JP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477316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173E3C"/>
                </a:solidFill>
                <a:latin typeface="Noto Sans CJK JP"/>
              </a:defRPr>
            </a:pPr>
            <a:r>
              <a:t>完成確認・納品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257800"/>
            <a:ext cx="44531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1716B"/>
                </a:solidFill>
                <a:latin typeface="Noto Sans CJK JP"/>
              </a:defRPr>
            </a:pPr>
            <a:r>
              <a:t>完成したモデルを確認して受領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