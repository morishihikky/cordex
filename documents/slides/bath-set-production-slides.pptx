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elysia-5201/asset-vault/blob/main/config/avatars.seed.json" TargetMode="External"/><Relationship Id="rId3" Type="http://schemas.openxmlformats.org/officeDocument/2006/relationships/hyperlink" Target="https://github.com/tomo1560/avatar-closet-mcp/blob/main/README.md" TargetMode="External"/><Relationship Id="rId4" Type="http://schemas.openxmlformats.org/officeDocument/2006/relationships/hyperlink" Target="https://github.com/KOZ39/Knee-Fixer/blob/main/README_JA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VIRTUAL MARKET / PRODUCTION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3Dお風呂セット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企業ブース｜特典配布モデル 制作発注資料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お風呂の楽しさを、</a:t>
            </a:r>
          </a:p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アバターで持ち帰る。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794760"/>
            <a:ext cx="5257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61716B"/>
                </a:solidFill>
                <a:latin typeface="Noto Sans CJK JP"/>
              </a:defRPr>
            </a:pPr>
            <a:r>
              <a:t>頭部小物3点＋着用バスタオル</a:t>
            </a:r>
          </a:p>
          <a:p>
            <a:pPr>
              <a:spcAft>
                <a:spcPts val="800"/>
              </a:spcAft>
              <a:defRPr sz="1800" b="0">
                <a:solidFill>
                  <a:srgbClr val="61716B"/>
                </a:solidFill>
                <a:latin typeface="Noto Sans CJK JP"/>
              </a:defRPr>
            </a:pPr>
            <a:r>
              <a:t>外注制作に向けた仕様・納品・検収の整理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" y="4965192"/>
            <a:ext cx="146304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5006340"/>
            <a:ext cx="1298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制作対象 4点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80" y="4965192"/>
            <a:ext cx="182880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5006340"/>
            <a:ext cx="166420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対応アバター 5種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5468112"/>
            <a:ext cx="1828800" cy="292608"/>
          </a:xfrm>
          <a:prstGeom prst="roundRect">
            <a:avLst>
              <a:gd name="adj" fmla="val 10000"/>
            </a:avLst>
          </a:prstGeom>
          <a:solidFill>
            <a:srgbClr val="F9D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5509260"/>
            <a:ext cx="166420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バスタブは対象外</a:t>
            </a:r>
          </a:p>
        </p:txBody>
      </p:sp>
      <p:pic>
        <p:nvPicPr>
          <p:cNvPr id="17" name="Picture 16" descr="exec-871844d4-edbb-4a08-9d69-90132a8b8d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1627632"/>
            <a:ext cx="4526280" cy="4526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01968" y="6181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制作イメージ（AI生成）／完成仕様はラフ承認で確定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01 /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今回の制作対象は、4アイテム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各アイテムの形状・色・質感は、ラフ提出後に発注者が承認します。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871844d4-edbb-4a08-9d69-90132a8b8d7d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7512" y="2130552"/>
            <a:ext cx="2350008" cy="2350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1716B"/>
                </a:solidFill>
                <a:latin typeface="Noto Sans CJK JP"/>
              </a:defRPr>
            </a:pPr>
            <a:r>
              <a:t>頭に載せるタオル＋アヒル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871844d4-edbb-4a08-9d69-90132a8b8d7d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3483864" y="2130552"/>
            <a:ext cx="2350008" cy="23500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3008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もこもこターバン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1716B"/>
                </a:solidFill>
                <a:latin typeface="Noto Sans CJK JP"/>
              </a:defRPr>
            </a:pPr>
            <a:r>
              <a:t>ふんわりした頭部用アイテム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2"/>
          <a:srcRect r="50000" t="50000"/>
          <a:stretch>
            <a:fillRect/>
          </a:stretch>
        </p:blipFill>
        <p:spPr>
          <a:xfrm>
            <a:off x="6300216" y="2130552"/>
            <a:ext cx="2350008" cy="23500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9360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1716B"/>
                </a:solidFill>
                <a:latin typeface="Noto Sans CJK JP"/>
              </a:defRPr>
            </a:pPr>
            <a:r>
              <a:t>左右の目に載せる輪切り型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9116568" y="2130552"/>
            <a:ext cx="2350008" cy="23500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25712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バスタオルモデル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1716B"/>
                </a:solidFill>
                <a:latin typeface="Noto Sans CJK JP"/>
              </a:defRPr>
            </a:pPr>
            <a:r>
              <a:t>身体に巻く着用品／5種対応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8932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対象外：バスタブ、ブース本体、ゲーム、NPC、展示パネル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0076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制作イメージ（AI生成）／完成仕様はラフ承認で確定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02 / HEAD ACCESSORIES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頭部小物｜形状と装着しやすさ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共通方針：白系の清潔感、布の柔らかさ、調整しやすい構成。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7" y="1901952"/>
            <a:ext cx="5394960" cy="4142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871844d4-edbb-4a08-9d69-90132a8b8d7d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731519" y="2121408"/>
            <a:ext cx="2331720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0664" y="459943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2677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67712"/>
            <a:ext cx="2185415" cy="8321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タオルの厚みと折り重なりを表現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6976" y="3136391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36391"/>
            <a:ext cx="2185415" cy="8321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アヒルとタオルを個別に調整可能に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400507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005072"/>
            <a:ext cx="2185415" cy="8321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髪・耳・角への干渉を確認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33095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制作イメージ（AI生成）／完成仕様はラフ承認で確定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901952"/>
            <a:ext cx="5394960" cy="4142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6473952" y="2121408"/>
            <a:ext cx="2331720" cy="23317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83096" y="459943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もこもこターバン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22677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2267712"/>
            <a:ext cx="2185415" cy="8321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丸みと凹凸でもこもこ感を表現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3136391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3136391"/>
            <a:ext cx="2185415" cy="8321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位置・回転・大きさを調整可能に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00507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7152" y="4005072"/>
            <a:ext cx="2185415" cy="8321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結び目・装飾・耳周りはラフで確認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533095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制作イメージ（AI生成）／完成仕様はラフ承認で確定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6080760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要確認：頭部小物のアバター別調整範囲／重ね着／着脱メニュー／アヒルの揺れ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03 / EYE PATCHES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キュウリの目パック｜左右を個別調整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輪切りの断面と厚みを表現し、顔周りのフィット感を確認します。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r="50000" t="50000"/>
          <a:stretch>
            <a:fillRect/>
          </a:stretch>
        </p:blipFill>
        <p:spPr>
          <a:xfrm>
            <a:off x="594360" y="1874519"/>
            <a:ext cx="4160520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10819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制作イメージ（AI生成）／完成仕様はラフ承認で確定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93392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73E3C"/>
                </a:solidFill>
                <a:latin typeface="Noto Sans CJK JP"/>
              </a:defRPr>
            </a:pPr>
            <a:r>
              <a:t>制作仕様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69748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2697480"/>
            <a:ext cx="5431536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73E3C"/>
                </a:solidFill>
                <a:latin typeface="Noto Sans CJK JP"/>
              </a:defRPr>
            </a:pPr>
            <a:r>
              <a:t>皮・果肉・種が識別できる意匠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31012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1264" y="3310128"/>
            <a:ext cx="5431536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73E3C"/>
                </a:solidFill>
                <a:latin typeface="Noto Sans CJK JP"/>
              </a:defRPr>
            </a:pPr>
            <a:r>
              <a:t>左右を別々に位置・角度・サイズ調整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922776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1264" y="3922776"/>
            <a:ext cx="5431536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73E3C"/>
                </a:solidFill>
                <a:latin typeface="Noto Sans CJK JP"/>
              </a:defRPr>
            </a:pPr>
            <a:r>
              <a:t>顔への埋まりや過度な浮きを防ぐ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535424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4535424"/>
            <a:ext cx="5431536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73E3C"/>
                </a:solidFill>
                <a:latin typeface="Noto Sans CJK JP"/>
              </a:defRPr>
            </a:pPr>
            <a:r>
              <a:t>視界・カメラへの映り込みを確認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85232" y="5422392"/>
            <a:ext cx="5806440" cy="649224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0" y="5568696"/>
            <a:ext cx="5440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表情追従・まばたき連動・着脱機能は要確認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04 / WEARABLE BATH TOWEL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バスタオル｜2種類の着用タイプを基本案に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丈・被覆範囲・巻き合わせは、正面／側面／背面のラフで承認します。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05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594360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1539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制作イメージ（AI生成）／完成仕様はラフ承認で確定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9512" y="1901952"/>
            <a:ext cx="2862072" cy="1490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2084832"/>
            <a:ext cx="24597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A｜胸元を覆うタイプ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606040"/>
            <a:ext cx="2459736" cy="7132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胸元から身体を覆う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脇・背面・裾も重点確認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57031" y="1901952"/>
            <a:ext cx="2862072" cy="1490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084832"/>
            <a:ext cx="24597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B｜腰巻きタイプ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606040"/>
            <a:ext cx="2459736" cy="7132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腰から下を覆う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腰回り・重なり・裾を確認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70332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1264" y="3703320"/>
            <a:ext cx="5477256" cy="4846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タオルの縁・厚み・巻き重なりを表現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2452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1264" y="4224528"/>
            <a:ext cx="5477256" cy="4846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身体の動きに追従するウェイト調整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745736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1264" y="4745736"/>
            <a:ext cx="5477256" cy="4846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透けない表現を基本とし、被覆を保つ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266944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1264" y="5266944"/>
            <a:ext cx="5477256" cy="4846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必要な素体の非表示設定を手順書に記載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597103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脱衣・ずれ落ち・透過演出は含めません。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05 / AVATAR COMPATIBILITY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バスタオルの対応対象｜5アバター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初期体型を必須とし、追加シェイプへの対応は項目・設定値を個別に合意します。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65376"/>
            <a:ext cx="45720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84248"/>
            <a:ext cx="4754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198424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しなの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39112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6B"/>
                </a:solidFill>
                <a:latin typeface="Noto Sans CJK JP"/>
              </a:defRPr>
            </a:pPr>
            <a:r>
              <a:t>Shinano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33472"/>
            <a:ext cx="45720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75234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275234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マヌカ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07208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6B"/>
                </a:solidFill>
                <a:latin typeface="Noto Sans CJK JP"/>
              </a:defRPr>
            </a:pPr>
            <a:r>
              <a:t>Manuka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01568"/>
            <a:ext cx="45720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520439"/>
            <a:ext cx="4754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3520439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575303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6B"/>
                </a:solidFill>
                <a:latin typeface="Noto Sans CJK JP"/>
              </a:defRPr>
            </a:pPr>
            <a:r>
              <a:t>Moe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169664"/>
            <a:ext cx="45720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28853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8" y="4288536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ライム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6B"/>
                </a:solidFill>
                <a:latin typeface="Noto Sans CJK JP"/>
              </a:defRPr>
            </a:pPr>
            <a:r>
              <a:t>Lime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937760"/>
            <a:ext cx="45720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05663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35608" y="5056632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桔梗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111496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6B"/>
                </a:solidFill>
                <a:latin typeface="Noto Sans CJK JP"/>
              </a:defRPr>
            </a:pPr>
            <a:r>
              <a:t>Kikyo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2704" y="1938528"/>
            <a:ext cx="54864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「対応済み」に含める作業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2660904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2660904"/>
            <a:ext cx="52486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アバター別の形状・サイズ・ウェイト調整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32704" y="324612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0448" y="3246120"/>
            <a:ext cx="52486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対象別Prefab、または同等の導入設定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32704" y="3831336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0448" y="3831336"/>
            <a:ext cx="52486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指定ポーズでの着用・貫通・被覆の確認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2704" y="441655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0448" y="4416552"/>
            <a:ext cx="52486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必要な素体非表示設定と制約の記録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0" y="525780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15584" y="541324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2タイプ採用時：5種 × 2タイプ ＝ 10通りを検証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5989320"/>
            <a:ext cx="1060704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1716B"/>
                </a:solidFill>
                <a:latin typeface="Noto Sans CJK JP"/>
              </a:defRPr>
            </a:pPr>
            <a:r>
              <a:t>採用版は制作開始前に固定。男性アバターの個別対応は別途指定。5種の選定根拠・調査範囲は最終ページに記載。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06 /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納品物と、制作開始前に固定する技術条件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特定の制作ツールや追加アセットを必要とする場合は、事前に提示してください。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" y="1929384"/>
            <a:ext cx="5486400" cy="40965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12264"/>
            <a:ext cx="50840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納品物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33472"/>
            <a:ext cx="5084064" cy="331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01  完成モデル（FBX等）・テクスチャ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02  Unity用データ・Prefab・マテリアル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03  対応アバター別の導入データ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04  編集可能な制作元データ ※範囲合意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05  日本語の導入手順・検証結果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06  依存素材・ツール・ライセンス一覧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929384"/>
            <a:ext cx="5367528" cy="40965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12264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技術条件｜制作前に合意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33472"/>
            <a:ext cx="4965192" cy="331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対象環境：VRChat PC向けを基本案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Unity／SDK：対応版を固定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シェーダー／導入補助ツール：事前合意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負荷上限：三角形数・素材数・容量等を提示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Quest対応／着脱／物理挙動：要確認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ロゴ：正式支給データと承認に従う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44768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配布パッケージに第三者のアバター本体・素体・テクスチャ等を含めないこと。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07 / REVIEW &amp;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段階確認で、見た目と着用時の品質を揃える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代表アバター1体でフィットを確認し、承認後に残り4種へ展開します。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975104"/>
            <a:ext cx="2112264" cy="676656"/>
          </a:xfrm>
          <a:prstGeom prst="roundRect">
            <a:avLst>
              <a:gd name="adj" fmla="val 10000"/>
            </a:avLst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176272"/>
            <a:ext cx="1901952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Noto Sans CJK JP"/>
              </a:defRPr>
            </a:pPr>
            <a:r>
              <a:t>仕様合意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12140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4685E"/>
                </a:solidFill>
                <a:latin typeface="Noto Sans CJK JP"/>
              </a:defRPr>
            </a:pPr>
            <a: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1975104"/>
            <a:ext cx="2112264" cy="676656"/>
          </a:xfrm>
          <a:prstGeom prst="roundRect">
            <a:avLst>
              <a:gd name="adj" fmla="val 10000"/>
            </a:avLst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176272"/>
            <a:ext cx="1901952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Noto Sans CJK JP"/>
              </a:defRPr>
            </a:pPr>
            <a:r>
              <a:t>ラフ承認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212140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4685E"/>
                </a:solidFill>
                <a:latin typeface="Noto Sans CJK JP"/>
              </a:defRPr>
            </a:pPr>
            <a: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60" y="1975104"/>
            <a:ext cx="2112264" cy="676656"/>
          </a:xfrm>
          <a:prstGeom prst="roundRect">
            <a:avLst>
              <a:gd name="adj" fmla="val 10000"/>
            </a:avLst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6088" y="2176272"/>
            <a:ext cx="1901952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Noto Sans CJK JP"/>
              </a:defRPr>
            </a:pPr>
            <a:r>
              <a:t>代表1体で検証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212140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4685E"/>
                </a:solidFill>
                <a:latin typeface="Noto Sans CJK JP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43216" y="1975104"/>
            <a:ext cx="2112264" cy="676656"/>
          </a:xfrm>
          <a:prstGeom prst="roundRect">
            <a:avLst>
              <a:gd name="adj" fmla="val 10000"/>
            </a:avLst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944" y="2176272"/>
            <a:ext cx="1901952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Noto Sans CJK JP"/>
              </a:defRPr>
            </a:pPr>
            <a:r>
              <a:t>5種へ展開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64624" y="212140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4685E"/>
                </a:solidFill>
                <a:latin typeface="Noto Sans CJK JP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0072" y="1975104"/>
            <a:ext cx="2112264" cy="676656"/>
          </a:xfrm>
          <a:prstGeom prst="roundRect">
            <a:avLst>
              <a:gd name="adj" fmla="val 10000"/>
            </a:avLst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2176272"/>
            <a:ext cx="1901952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Noto Sans CJK JP"/>
              </a:defRPr>
            </a:pPr>
            <a:r>
              <a:t>配布確認・納品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2999232"/>
            <a:ext cx="545896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182112"/>
            <a:ext cx="505663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外観・導入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703320"/>
            <a:ext cx="505663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承認ラフとの一致／素材欠落・エラーなし／手順どおりに導入可能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2999232"/>
            <a:ext cx="536752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182112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静止時の着用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703320"/>
            <a:ext cx="49651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正面・側面・背面／被覆範囲／胸元・脇・背面・裾の隙間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" y="4379976"/>
            <a:ext cx="545896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562856"/>
            <a:ext cx="505663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動作時の着用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084064"/>
            <a:ext cx="505663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歩行・腕上げ・着座・しゃがみ・脚上げで、目立つ破綻がない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54496" y="4379976"/>
            <a:ext cx="536752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562856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負荷・配布内容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5084064"/>
            <a:ext cx="49651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合意した上限を満たす／依存条件・既知の制約・権利表記を明記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検証ポーズ・体型値・修正回数は事前合意。全ポーズ・全改変に対する貫通ゼロを保証するものではありません。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08 / SCHEDULE &amp; AGREEMENTS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日程と、正式発注前の確認事項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日程は未記入。決定後に追記します。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920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スケジュール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78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制作開始日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72384" y="2916936"/>
            <a:ext cx="2295144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998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ラフ確認日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84" y="3438144"/>
            <a:ext cx="2295144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2102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動作確認版 提出日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3959352"/>
            <a:ext cx="2295144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42231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先行配布用 納品日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72384" y="4480559"/>
            <a:ext cx="2295144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最終納品日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2384" y="5001768"/>
            <a:ext cx="2295144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18464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検収期間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72384" y="5522976"/>
            <a:ext cx="2295144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60720" y="1938528"/>
            <a:ext cx="5843016" cy="40965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1888" y="2121408"/>
            <a:ext cx="54406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制作前の確認事項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1888" y="2642616"/>
            <a:ext cx="5440679" cy="331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着用タイプ2種の採否・被覆範囲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アバターの採用版・対応シェイプ値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頭部小物3点の個別調整範囲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ロゴ・装飾・色の指定と承認フロー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配布方式・先行配布の実施有無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利用許諾・改変・実績公開・不具合対応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REFERENCE /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参考画像・アバター選定の扱い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本資料は発注仕様を確定するための確認用です。未確定事項は制作開始前に合意してください。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制作発注資料｜仕様確認用 v0.3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929384"/>
            <a:ext cx="10936224" cy="960120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130552"/>
            <a:ext cx="104424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掲載画像は企画画像をもとに作成したAI生成の制作イメージです。</a:t>
            </a:r>
          </a:p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実在のアバター着用例や完成モデルではなく、最終形状・質感・ロゴはラフ承認で確定します。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107899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対応5種の選定について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703320"/>
            <a:ext cx="10561320" cy="758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公開されたVRChat向けツールのアバター辞書・対応情報を参照して選定。</a:t>
            </a:r>
          </a:p>
          <a:p>
            <a:pPr>
              <a:spcAft>
                <a:spcPts val="800"/>
              </a:spcAft>
              <a:defRPr sz="1600" b="0">
                <a:solidFill>
                  <a:srgbClr val="173E3C"/>
                </a:solidFill>
                <a:latin typeface="Noto Sans CJK JP"/>
              </a:defRPr>
            </a:pPr>
            <a:r>
              <a:t>最新の販売数・利用率の上位5種と確認したものではありません。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6177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E3C"/>
                </a:solidFill>
                <a:latin typeface="Noto Sans CJK JP"/>
              </a:defRPr>
            </a:pPr>
            <a:r>
              <a:t>AssetVault｜アバター辞書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636007"/>
            <a:ext cx="6812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24685E"/>
                </a:solidFill>
                <a:latin typeface="Noto Sans CJK JP"/>
              </a:defRPr>
            </a:pPr>
            <a:r>
              <a:rPr>
                <a:hlinkClick r:id="rId2"/>
              </a:rPr>
              <a:t>https://github.com/elysia-5201/asset-vault/blob/main/config/avatars.seed.json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9834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E3C"/>
                </a:solidFill>
                <a:latin typeface="Noto Sans CJK JP"/>
              </a:defRPr>
            </a:pPr>
            <a:r>
              <a:t>avatar-closet-mcp｜対応名称の説明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5001768"/>
            <a:ext cx="6812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24685E"/>
                </a:solidFill>
                <a:latin typeface="Noto Sans CJK JP"/>
              </a:defRPr>
            </a:pPr>
            <a:r>
              <a:rPr>
                <a:hlinkClick r:id="rId3"/>
              </a:rPr>
              <a:t>https://github.com/tomo1560/avatar-closet-mcp/blob/main/README.md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3492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E3C"/>
                </a:solidFill>
                <a:latin typeface="Noto Sans CJK JP"/>
              </a:defRPr>
            </a:pPr>
            <a:r>
              <a:t>Knee Fixer｜対応プリセット一覧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5367527"/>
            <a:ext cx="6812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24685E"/>
                </a:solidFill>
                <a:latin typeface="Noto Sans CJK JP"/>
              </a:defRPr>
            </a:pPr>
            <a:r>
              <a:rPr>
                <a:hlinkClick r:id="rId4"/>
              </a:rPr>
              <a:t>https://github.com/KOZ39/Knee-Fixer/blob/main/README_JA.md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9161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1716B"/>
                </a:solidFill>
                <a:latin typeface="Noto Sans CJK JP"/>
              </a:defRPr>
            </a:pPr>
            <a:r>
              <a:t>調査日：2026年10月20日。BOOTHの商品ページ本文・最新版・規約は接続制限により未確認。制作開始前に正規販売元で確認してください。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